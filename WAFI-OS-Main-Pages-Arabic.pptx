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118e118aaf4547" /><Relationship Type="http://schemas.openxmlformats.org/officeDocument/2006/relationships/extended-properties" Target="/docProps/app.xml" Id="R3f4eeea1cdb64eb9" /><Relationship Type="http://schemas.openxmlformats.org/officeDocument/2006/relationships/officeDocument" Target="/ppt/presentation.xml" Id="R93609df28e114a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ed8ed6b88a4fc2"/>
  </p:sldMasterIdLst>
  <p:notesMasterIdLst>
    <p:notesMasterId xmlns:r="http://schemas.openxmlformats.org/officeDocument/2006/relationships" r:id="Re05a5584659147d5"/>
  </p:notesMasterIdLst>
  <p:sldIdLst>
    <p:sldId xmlns:r="http://schemas.openxmlformats.org/officeDocument/2006/relationships" id="256" r:id="Rb4f57b0f527741f4"/>
    <p:sldId xmlns:r="http://schemas.openxmlformats.org/officeDocument/2006/relationships" id="257" r:id="Rb3d4c954448d4400"/>
    <p:sldId xmlns:r="http://schemas.openxmlformats.org/officeDocument/2006/relationships" id="258" r:id="R16e24a3d1163431c"/>
    <p:sldId xmlns:r="http://schemas.openxmlformats.org/officeDocument/2006/relationships" id="259" r:id="R554373de2ca14151"/>
    <p:sldId xmlns:r="http://schemas.openxmlformats.org/officeDocument/2006/relationships" id="260" r:id="Rf791d24dd2464a0a"/>
    <p:sldId xmlns:r="http://schemas.openxmlformats.org/officeDocument/2006/relationships" id="261" r:id="R09b59d5df64d4a30"/>
    <p:sldId xmlns:r="http://schemas.openxmlformats.org/officeDocument/2006/relationships" id="262" r:id="R486d09bd11044f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d943f1f4294572" /><Relationship Type="http://schemas.openxmlformats.org/officeDocument/2006/relationships/slideMaster" Target="/ppt/slideMasters/slideMaster1.xml" Id="R59ed8ed6b88a4fc2" /><Relationship Type="http://schemas.openxmlformats.org/officeDocument/2006/relationships/notesMaster" Target="/ppt/notesMasters/notesMaster1.xml" Id="Re05a5584659147d5" /><Relationship Type="http://schemas.openxmlformats.org/officeDocument/2006/relationships/presProps" Target="/ppt/presProps.xml" Id="R564ece89177e4141" /><Relationship Type="http://schemas.openxmlformats.org/officeDocument/2006/relationships/tableStyles" Target="/ppt/tableStyles.xml" Id="Re6898076d5c04650" /><Relationship Type="http://schemas.openxmlformats.org/officeDocument/2006/relationships/slide" Target="/ppt/slides/slide1.xml" Id="Rb4f57b0f527741f4" /><Relationship Type="http://schemas.openxmlformats.org/officeDocument/2006/relationships/slide" Target="/ppt/slides/slide2.xml" Id="Rb3d4c954448d4400" /><Relationship Type="http://schemas.openxmlformats.org/officeDocument/2006/relationships/slide" Target="/ppt/slides/slide3.xml" Id="R16e24a3d1163431c" /><Relationship Type="http://schemas.openxmlformats.org/officeDocument/2006/relationships/slide" Target="/ppt/slides/slide4.xml" Id="R554373de2ca14151" /><Relationship Type="http://schemas.openxmlformats.org/officeDocument/2006/relationships/slide" Target="/ppt/slides/slide5.xml" Id="Rf791d24dd2464a0a" /><Relationship Type="http://schemas.openxmlformats.org/officeDocument/2006/relationships/slide" Target="/ppt/slides/slide6.xml" Id="R09b59d5df64d4a30" /><Relationship Type="http://schemas.openxmlformats.org/officeDocument/2006/relationships/slide" Target="/ppt/slides/slide7.xml" Id="R486d09bd11044f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a346fcc9c24c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d9a45a36034876" /><Relationship Type="http://schemas.openxmlformats.org/officeDocument/2006/relationships/notesMaster" Target="/ppt/notesMasters/notesMaster1.xml" Id="Rf53da77e8e9544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ebf5eb86174468" /><Relationship Type="http://schemas.openxmlformats.org/officeDocument/2006/relationships/notesMaster" Target="/ppt/notesMasters/notesMaster1.xml" Id="R6e85e42b0ebe4c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3ac93de12e4b6d" /><Relationship Type="http://schemas.openxmlformats.org/officeDocument/2006/relationships/notesMaster" Target="/ppt/notesMasters/notesMaster1.xml" Id="R36aaff84ac214f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9e99c977584632" /><Relationship Type="http://schemas.openxmlformats.org/officeDocument/2006/relationships/notesMaster" Target="/ppt/notesMasters/notesMaster1.xml" Id="R18faee32d95a44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de3b3566e44d66" /><Relationship Type="http://schemas.openxmlformats.org/officeDocument/2006/relationships/notesMaster" Target="/ppt/notesMasters/notesMaster1.xml" Id="R1c88fe0d475a4a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8d82eaf9f143d1" /><Relationship Type="http://schemas.openxmlformats.org/officeDocument/2006/relationships/notesMaster" Target="/ppt/notesMasters/notesMaster1.xml" Id="R14dddcb0ddda47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5623aeb71b4059" /><Relationship Type="http://schemas.openxmlformats.org/officeDocument/2006/relationships/notesMaster" Target="/ppt/notesMasters/notesMaster1.xml" Id="Rbdcb06cea9f741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5e6aa224e4f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ef01836ec64cce" /><Relationship Type="http://schemas.openxmlformats.org/officeDocument/2006/relationships/slideLayout" Target="/ppt/slideLayouts/slideLayout1.xml" Id="R82cd8fa01ebc45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cd8fa01ebc45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2320170ae4c64" /><Relationship Type="http://schemas.openxmlformats.org/officeDocument/2006/relationships/notesSlide" Target="/ppt/notesSlides/notesSlide1.xml" Id="R28519804fb614b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dc07e1f4d4651" /><Relationship Type="http://schemas.openxmlformats.org/officeDocument/2006/relationships/image" Target="/ppt/media/image.jpeg" Id="R47adcc6eabcd4596" /><Relationship Type="http://schemas.openxmlformats.org/officeDocument/2006/relationships/notesSlide" Target="/ppt/notesSlides/notesSlide2.xml" Id="Ree1954b3861d4d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f2253c06b4fa9" /><Relationship Type="http://schemas.openxmlformats.org/officeDocument/2006/relationships/image" Target="/ppt/media/image2.jpeg" Id="R58b0fe5efa6f4a09" /><Relationship Type="http://schemas.openxmlformats.org/officeDocument/2006/relationships/notesSlide" Target="/ppt/notesSlides/notesSlide3.xml" Id="Rdc969b2af2b64f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18ba0ecc44c1b" /><Relationship Type="http://schemas.openxmlformats.org/officeDocument/2006/relationships/image" Target="/ppt/media/image3.jpeg" Id="R222e82040a524a56" /><Relationship Type="http://schemas.openxmlformats.org/officeDocument/2006/relationships/notesSlide" Target="/ppt/notesSlides/notesSlide4.xml" Id="R603b56b89e0f4e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a9bbba6404514" /><Relationship Type="http://schemas.openxmlformats.org/officeDocument/2006/relationships/image" Target="/ppt/media/image4.jpeg" Id="R272b08acdb604256" /><Relationship Type="http://schemas.openxmlformats.org/officeDocument/2006/relationships/notesSlide" Target="/ppt/notesSlides/notesSlide5.xml" Id="R0078a2d3127542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3d7f507614fd0" /><Relationship Type="http://schemas.openxmlformats.org/officeDocument/2006/relationships/image" Target="/ppt/media/image5.jpeg" Id="R9089f5d336d149ec" /><Relationship Type="http://schemas.openxmlformats.org/officeDocument/2006/relationships/notesSlide" Target="/ppt/notesSlides/notesSlide6.xml" Id="R8eeb3c7f33c446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75a232b334ff4" /><Relationship Type="http://schemas.openxmlformats.org/officeDocument/2006/relationships/notesSlide" Target="/ppt/notesSlides/notesSlide7.xml" Id="Rc7681ad76e8548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C71E6-EEDF-4723-AE5D-A6C597DC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63"/>
          </a:solidFill>
          <a:ln xmlns:a="http://schemas.openxmlformats.org/drawingml/2006/main" w="0">
            <a:solidFill>
              <a:srgbClr val="087D6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DD93F-315B-43E3-B90B-414322F0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66750"/>
            <a:ext cx="1428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087D63"/>
          </a:solidFill>
          <a:ln xmlns:a="http://schemas.openxmlformats.org/drawingml/2006/main" w="0">
            <a:solidFill>
              <a:srgbClr val="087D63"/>
            </a:solidFill>
            <a:prstDash val="solid"/>
          </a:ln>
        </p:spPr>
      </p:sp>
      <p:sp>
        <p:nvSpPr>
          <p:cNvPr id="3" name="cover-mark">
            <a:extLst xmlns:a="http://schemas.openxmlformats.org/drawingml/2006/main">
              <a:ext uri="{FF2B5EF4-FFF2-40B4-BE49-F238E27FC236}">
                <a16:creationId xmlns:a16="http://schemas.microsoft.com/office/drawing/2014/main" id="{8C736694-21FB-4EFA-9675-DFF76ABA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66750"/>
            <a:ext cx="142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0DF342C-80FC-4BA1-BC31-2E7AEC9B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D63"/>
                </a:solidFill>
              </a:defRPr>
            </a:pPr>
            <a:r>
              <a:rPr sz="1350" b="1">
                <a:solidFill>
                  <a:srgbClr val="087D63"/>
                </a:solidFill>
              </a:rPr>
              <a:t>WAFI OS  ·  منصة العمليات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22C6B6C-15DE-4F0F-859F-2D4A2360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790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4200" b="1">
                <a:solidFill>
                  <a:srgbClr val="0C211A"/>
                </a:solidFill>
              </a:defRPr>
            </a:pPr>
            <a:r>
              <a:rPr sz="4200" b="1">
                <a:solidFill>
                  <a:srgbClr val="0C211A"/>
                </a:solidFill>
              </a:rPr>
              <a:t>عرض الصفحات الرئيسية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411ADA3-9CB4-4689-BA50-92157DA5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>
                <a:solidFill>
                  <a:srgbClr val="61736D"/>
                </a:solidFill>
              </a:defRPr>
            </a:pPr>
            <a:r>
              <a:rPr sz="1800">
                <a:solidFill>
                  <a:srgbClr val="61736D"/>
                </a:solidFill>
              </a:rPr>
              <a:t>جولة مختصرة في واجهات التشغيل الأساسية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21D476E1-BB94-4C9C-BDB1-75A0162C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1736D"/>
                </a:solidFill>
              </a:defRPr>
            </a:pPr>
            <a:r>
              <a:rPr sz="1125">
                <a:solidFill>
                  <a:srgbClr val="61736D"/>
                </a:solidFill>
              </a:rPr>
              <a:t>أغسطس 2026</a:t>
            </a:r>
          </a:p>
        </p:txBody>
      </p:sp>
    </p:spTree>
    <p:extLst>
      <p:ext uri="{BB962C8B-B14F-4D97-AF65-F5344CB8AC3E}">
        <p14:creationId xmlns:p14="http://schemas.microsoft.com/office/powerpoint/2010/main" val="226368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2">
            <a:extLst xmlns:a="http://schemas.openxmlformats.org/drawingml/2006/main">
              <a:ext uri="{FF2B5EF4-FFF2-40B4-BE49-F238E27FC236}">
                <a16:creationId xmlns:a16="http://schemas.microsoft.com/office/drawing/2014/main" id="{96F57637-585D-4BE7-8758-A5CBE200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D63"/>
                </a:solidFill>
              </a:defRPr>
            </a:pPr>
            <a:r>
              <a:rPr sz="975" b="1">
                <a:solidFill>
                  <a:srgbClr val="087D63"/>
                </a:solidFill>
              </a:rPr>
              <a:t>صفحة رئيسية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8ABC0E68-08E0-45B8-A693-CA6ACF61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85800"/>
            <a:ext cx="672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C211A"/>
                </a:solidFill>
              </a:defRPr>
            </a:pPr>
            <a:r>
              <a:rPr sz="2850" b="1">
                <a:solidFill>
                  <a:srgbClr val="0C211A"/>
                </a:solidFill>
              </a:rPr>
              <a:t>برج المراقبة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3F026A6B-7A6D-4E50-9480-AEA95F6B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257300"/>
            <a:ext cx="672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1736D"/>
                </a:solidFill>
              </a:defRPr>
            </a:pPr>
            <a:r>
              <a:rPr sz="1350">
                <a:solidFill>
                  <a:srgbClr val="61736D"/>
                </a:solidFill>
              </a:rPr>
              <a:t>الصورة الموحدة للحالة التشغيلية الحالية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dcc6eabcd4596"/>
          <a:stretch xmlns:a="http://schemas.openxmlformats.org/drawingml/2006/main"/>
        </p:blipFill>
        <p:spPr>
          <a:xfrm xmlns:a="http://schemas.openxmlformats.org/drawingml/2006/main">
            <a:off x="981075" y="1857375"/>
            <a:ext cx="6781800" cy="4238625"/>
          </a:xfrm>
          <a:prstGeom xmlns:a="http://schemas.openxmlformats.org/drawingml/2006/main" prst="rect">
            <a:avLst/>
          </a:prstGeom>
        </p:spPr>
      </p:pic>
      <p:sp>
        <p:nvSpPr>
          <p:cNvPr id="5" name="point-head-2">
            <a:extLst xmlns:a="http://schemas.openxmlformats.org/drawingml/2006/main">
              <a:ext uri="{FF2B5EF4-FFF2-40B4-BE49-F238E27FC236}">
                <a16:creationId xmlns:a16="http://schemas.microsoft.com/office/drawing/2014/main" id="{617E51CE-8AB6-44BB-BA8B-5167B0EA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87D63"/>
                </a:solidFill>
              </a:defRPr>
            </a:pPr>
            <a:r>
              <a:rPr sz="1800" b="1">
                <a:solidFill>
                  <a:srgbClr val="087D63"/>
                </a:solidFill>
              </a:rPr>
              <a:t>ماذا تقدم الصفحة؟</a:t>
            </a:r>
          </a:p>
        </p:txBody>
      </p:sp>
      <p:sp>
        <p:nvSpPr>
          <p:cNvPr id="6" name="point-2-0">
            <a:extLst xmlns:a="http://schemas.openxmlformats.org/drawingml/2006/main">
              <a:ext uri="{FF2B5EF4-FFF2-40B4-BE49-F238E27FC236}">
                <a16:creationId xmlns:a16="http://schemas.microsoft.com/office/drawing/2014/main" id="{CDB76D88-88CF-451C-8DCF-D664C10C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0C211A"/>
                </a:solidFill>
              </a:defRPr>
            </a:pPr>
            <a:r>
              <a:rPr sz="1350">
                <a:solidFill>
                  <a:srgbClr val="0C211A"/>
                </a:solidFill>
              </a:rPr>
              <a:t>•  مؤشرات سريعة لحالات المهام النشطة.</a:t>
            </a:r>
          </a:p>
        </p:txBody>
      </p:sp>
      <p:sp>
        <p:nvSpPr>
          <p:cNvPr id="7" name="point-2-1">
            <a:extLst xmlns:a="http://schemas.openxmlformats.org/drawingml/2006/main">
              <a:ext uri="{FF2B5EF4-FFF2-40B4-BE49-F238E27FC236}">
                <a16:creationId xmlns:a16="http://schemas.microsoft.com/office/drawing/2014/main" id="{F3A73B85-BE8E-4D74-B214-345119EE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0C211A"/>
                </a:solidFill>
              </a:defRPr>
            </a:pPr>
            <a:r>
              <a:rPr sz="1350">
                <a:solidFill>
                  <a:srgbClr val="0C211A"/>
                </a:solidFill>
              </a:rPr>
              <a:t>•  متابعة الاستثناءات والانتباه للمستندات.</a:t>
            </a:r>
          </a:p>
        </p:txBody>
      </p:sp>
      <p:sp>
        <p:nvSpPr>
          <p:cNvPr id="8" name="point-2-2">
            <a:extLst xmlns:a="http://schemas.openxmlformats.org/drawingml/2006/main">
              <a:ext uri="{FF2B5EF4-FFF2-40B4-BE49-F238E27FC236}">
                <a16:creationId xmlns:a16="http://schemas.microsoft.com/office/drawing/2014/main" id="{58929853-09A5-499C-9DA1-EBC13F5A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386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0C211A"/>
                </a:solidFill>
              </a:defRPr>
            </a:pPr>
            <a:r>
              <a:rPr sz="1350">
                <a:solidFill>
                  <a:srgbClr val="0C211A"/>
                </a:solidFill>
              </a:rPr>
              <a:t>•  بحث وتصفية العمليات حسب الحالة والجهة.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1A1D2-2861-4764-B253-7E24F815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3DF"/>
            </a:solidFill>
            <a:prstDash val="solid"/>
          </a:ln>
        </p:spPr>
      </p:sp>
      <p:sp>
        <p:nvSpPr>
          <p:cNvPr id="10" name="footer-2">
            <a:extLst xmlns:a="http://schemas.openxmlformats.org/drawingml/2006/main">
              <a:ext uri="{FF2B5EF4-FFF2-40B4-BE49-F238E27FC236}">
                <a16:creationId xmlns:a16="http://schemas.microsoft.com/office/drawing/2014/main" id="{B7292FF2-C888-463B-A336-C00F3A23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1736D"/>
                </a:solidFill>
              </a:defRPr>
            </a:pPr>
            <a:r>
              <a:rPr sz="900">
                <a:solidFill>
                  <a:srgbClr val="61736D"/>
                </a:solidFill>
              </a:rPr>
              <a:t>WAFI OS  |  02</a:t>
            </a:r>
          </a:p>
        </p:txBody>
      </p:sp>
    </p:spTree>
    <p:extLst>
      <p:ext uri="{BB962C8B-B14F-4D97-AF65-F5344CB8AC3E}">
        <p14:creationId xmlns:p14="http://schemas.microsoft.com/office/powerpoint/2010/main" val="4448518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3">
            <a:extLst xmlns:a="http://schemas.openxmlformats.org/drawingml/2006/main">
              <a:ext uri="{FF2B5EF4-FFF2-40B4-BE49-F238E27FC236}">
                <a16:creationId xmlns:a16="http://schemas.microsoft.com/office/drawing/2014/main" id="{EBB45C74-DCD8-4A8A-9A07-F897A4E4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D63"/>
                </a:solidFill>
              </a:defRPr>
            </a:pPr>
            <a:r>
              <a:rPr sz="975" b="1">
                <a:solidFill>
                  <a:srgbClr val="087D63"/>
                </a:solidFill>
              </a:rPr>
              <a:t>صفحة رئيسية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5C92309-D1E8-46CD-8961-7F49216C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85800"/>
            <a:ext cx="672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C211A"/>
                </a:solidFill>
              </a:defRPr>
            </a:pPr>
            <a:r>
              <a:rPr sz="2850" b="1">
                <a:solidFill>
                  <a:srgbClr val="0C211A"/>
                </a:solidFill>
              </a:rPr>
              <a:t>المهام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5B62E86F-A337-4B19-8C85-20DF4DDD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257300"/>
            <a:ext cx="672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1736D"/>
                </a:solidFill>
              </a:defRPr>
            </a:pPr>
            <a:r>
              <a:rPr sz="1350">
                <a:solidFill>
                  <a:srgbClr val="61736D"/>
                </a:solidFill>
              </a:rPr>
              <a:t>تخطيط المهمة وإدارتها من الإنشاء حتى الإغلاق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0fe5efa6f4a09"/>
          <a:stretch xmlns:a="http://schemas.openxmlformats.org/drawingml/2006/main"/>
        </p:blipFill>
        <p:spPr>
          <a:xfrm xmlns:a="http://schemas.openxmlformats.org/drawingml/2006/main">
            <a:off x="981075" y="1857375"/>
            <a:ext cx="6781800" cy="4238625"/>
          </a:xfrm>
          <a:prstGeom xmlns:a="http://schemas.openxmlformats.org/drawingml/2006/main" prst="rect">
            <a:avLst/>
          </a:prstGeom>
        </p:spPr>
      </p:pic>
      <p:sp>
        <p:nvSpPr>
          <p:cNvPr id="5" name="point-head-3">
            <a:extLst xmlns:a="http://schemas.openxmlformats.org/drawingml/2006/main">
              <a:ext uri="{FF2B5EF4-FFF2-40B4-BE49-F238E27FC236}">
                <a16:creationId xmlns:a16="http://schemas.microsoft.com/office/drawing/2014/main" id="{AC6AE232-C0DA-4F35-BE82-FDD2BB13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87D63"/>
                </a:solidFill>
              </a:defRPr>
            </a:pPr>
            <a:r>
              <a:rPr sz="1800" b="1">
                <a:solidFill>
                  <a:srgbClr val="087D63"/>
                </a:solidFill>
              </a:rPr>
              <a:t>ماذا تقدم الصفحة؟</a:t>
            </a:r>
          </a:p>
        </p:txBody>
      </p:sp>
      <p:sp>
        <p:nvSpPr>
          <p:cNvPr id="6" name="point-3-0">
            <a:extLst xmlns:a="http://schemas.openxmlformats.org/drawingml/2006/main">
              <a:ext uri="{FF2B5EF4-FFF2-40B4-BE49-F238E27FC236}">
                <a16:creationId xmlns:a16="http://schemas.microsoft.com/office/drawing/2014/main" id="{8E9ED530-AE00-4C96-AD83-0D56A420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0C211A"/>
                </a:solidFill>
              </a:defRPr>
            </a:pPr>
            <a:r>
              <a:rPr sz="1350">
                <a:solidFill>
                  <a:srgbClr val="0C211A"/>
                </a:solidFill>
              </a:rPr>
              <a:t>•  إنشاء المهام وربط العميل والمستودع.</a:t>
            </a:r>
          </a:p>
        </p:txBody>
      </p:sp>
      <p:sp>
        <p:nvSpPr>
          <p:cNvPr id="7" name="point-3-1">
            <a:extLst xmlns:a="http://schemas.openxmlformats.org/drawingml/2006/main">
              <a:ext uri="{FF2B5EF4-FFF2-40B4-BE49-F238E27FC236}">
                <a16:creationId xmlns:a16="http://schemas.microsoft.com/office/drawing/2014/main" id="{55C55A39-9D85-429E-B9A0-70836CE3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0C211A"/>
                </a:solidFill>
              </a:defRPr>
            </a:pPr>
            <a:r>
              <a:rPr sz="1350">
                <a:solidFill>
                  <a:srgbClr val="0C211A"/>
                </a:solidFill>
              </a:rPr>
              <a:t>•  عرض الحالة والتكليف والمسار التشغيلي.</a:t>
            </a:r>
          </a:p>
        </p:txBody>
      </p:sp>
      <p:sp>
        <p:nvSpPr>
          <p:cNvPr id="8" name="point-3-2">
            <a:extLst xmlns:a="http://schemas.openxmlformats.org/drawingml/2006/main">
              <a:ext uri="{FF2B5EF4-FFF2-40B4-BE49-F238E27FC236}">
                <a16:creationId xmlns:a16="http://schemas.microsoft.com/office/drawing/2014/main" id="{AE859A28-AB60-4ED4-A4BA-1F01DEAC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386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0C211A"/>
                </a:solidFill>
              </a:defRPr>
            </a:pPr>
            <a:r>
              <a:rPr sz="1350">
                <a:solidFill>
                  <a:srgbClr val="0C211A"/>
                </a:solidFill>
              </a:rPr>
              <a:t>•  الوصول إلى تفاصيل المهمة وإجراءاتها.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E8722-E6A2-4A6F-A239-ED1EDBAD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3DF"/>
            </a:solidFill>
            <a:prstDash val="solid"/>
          </a:ln>
        </p:spPr>
      </p:sp>
      <p:sp>
        <p:nvSpPr>
          <p:cNvPr id="10" name="footer-3">
            <a:extLst xmlns:a="http://schemas.openxmlformats.org/drawingml/2006/main">
              <a:ext uri="{FF2B5EF4-FFF2-40B4-BE49-F238E27FC236}">
                <a16:creationId xmlns:a16="http://schemas.microsoft.com/office/drawing/2014/main" id="{8FB7D6ED-FEE6-4EDA-9DD6-BB4F7732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1736D"/>
                </a:solidFill>
              </a:defRPr>
            </a:pPr>
            <a:r>
              <a:rPr sz="900">
                <a:solidFill>
                  <a:srgbClr val="61736D"/>
                </a:solidFill>
              </a:rPr>
              <a:t>WAFI OS  |  03</a:t>
            </a:r>
          </a:p>
        </p:txBody>
      </p:sp>
    </p:spTree>
    <p:extLst>
      <p:ext uri="{BB962C8B-B14F-4D97-AF65-F5344CB8AC3E}">
        <p14:creationId xmlns:p14="http://schemas.microsoft.com/office/powerpoint/2010/main" val="20569986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4">
            <a:extLst xmlns:a="http://schemas.openxmlformats.org/drawingml/2006/main">
              <a:ext uri="{FF2B5EF4-FFF2-40B4-BE49-F238E27FC236}">
                <a16:creationId xmlns:a16="http://schemas.microsoft.com/office/drawing/2014/main" id="{C7EE6F2B-C275-44DC-9BC5-92CE865A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D63"/>
                </a:solidFill>
              </a:defRPr>
            </a:pPr>
            <a:r>
              <a:rPr sz="975" b="1">
                <a:solidFill>
                  <a:srgbClr val="087D63"/>
                </a:solidFill>
              </a:rPr>
              <a:t>صفحة رئيسية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480540B-D113-4045-B49C-92635159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85800"/>
            <a:ext cx="672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C211A"/>
                </a:solidFill>
              </a:defRPr>
            </a:pPr>
            <a:r>
              <a:rPr sz="2850" b="1">
                <a:solidFill>
                  <a:srgbClr val="0C211A"/>
                </a:solidFill>
              </a:rPr>
              <a:t>المستندات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4C9042B1-385B-4CA9-B185-C4DDE187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257300"/>
            <a:ext cx="672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1736D"/>
                </a:solidFill>
              </a:defRPr>
            </a:pPr>
            <a:r>
              <a:rPr sz="1350">
                <a:solidFill>
                  <a:srgbClr val="61736D"/>
                </a:solidFill>
              </a:rPr>
              <a:t>إدارة أدلة المهمة والتحقق منها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e82040a524a56"/>
          <a:stretch xmlns:a="http://schemas.openxmlformats.org/drawingml/2006/main"/>
        </p:blipFill>
        <p:spPr>
          <a:xfrm xmlns:a="http://schemas.openxmlformats.org/drawingml/2006/main">
            <a:off x="981075" y="1857375"/>
            <a:ext cx="6781800" cy="4238625"/>
          </a:xfrm>
          <a:prstGeom xmlns:a="http://schemas.openxmlformats.org/drawingml/2006/main" prst="rect">
            <a:avLst/>
          </a:prstGeom>
        </p:spPr>
      </p:pic>
      <p:sp>
        <p:nvSpPr>
          <p:cNvPr id="5" name="point-head-4">
            <a:extLst xmlns:a="http://schemas.openxmlformats.org/drawingml/2006/main">
              <a:ext uri="{FF2B5EF4-FFF2-40B4-BE49-F238E27FC236}">
                <a16:creationId xmlns:a16="http://schemas.microsoft.com/office/drawing/2014/main" id="{34F2ED32-0439-4DAE-B616-3909548A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87D63"/>
                </a:solidFill>
              </a:defRPr>
            </a:pPr>
            <a:r>
              <a:rPr sz="1800" b="1">
                <a:solidFill>
                  <a:srgbClr val="087D63"/>
                </a:solidFill>
              </a:rPr>
              <a:t>ماذا تقدم الصفحة؟</a:t>
            </a:r>
          </a:p>
        </p:txBody>
      </p:sp>
      <p:sp>
        <p:nvSpPr>
          <p:cNvPr id="6" name="point-4-0">
            <a:extLst xmlns:a="http://schemas.openxmlformats.org/drawingml/2006/main">
              <a:ext uri="{FF2B5EF4-FFF2-40B4-BE49-F238E27FC236}">
                <a16:creationId xmlns:a16="http://schemas.microsoft.com/office/drawing/2014/main" id="{CF9C2C3E-5C35-4741-9C0E-4F29D70F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0C211A"/>
                </a:solidFill>
              </a:defRPr>
            </a:pPr>
            <a:r>
              <a:rPr sz="1350">
                <a:solidFill>
                  <a:srgbClr val="0C211A"/>
                </a:solidFill>
              </a:rPr>
              <a:t>•  رفع المستند وربطه بالمهمة أو المحطة.</a:t>
            </a:r>
          </a:p>
        </p:txBody>
      </p:sp>
      <p:sp>
        <p:nvSpPr>
          <p:cNvPr id="7" name="point-4-1">
            <a:extLst xmlns:a="http://schemas.openxmlformats.org/drawingml/2006/main">
              <a:ext uri="{FF2B5EF4-FFF2-40B4-BE49-F238E27FC236}">
                <a16:creationId xmlns:a16="http://schemas.microsoft.com/office/drawing/2014/main" id="{7620D49B-8303-428D-8AF7-9FAFBBFC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0C211A"/>
                </a:solidFill>
              </a:defRPr>
            </a:pPr>
            <a:r>
              <a:rPr sz="1350">
                <a:solidFill>
                  <a:srgbClr val="0C211A"/>
                </a:solidFill>
              </a:rPr>
              <a:t>•  متابعة حالة التحقق والرفض.</a:t>
            </a:r>
          </a:p>
        </p:txBody>
      </p:sp>
      <p:sp>
        <p:nvSpPr>
          <p:cNvPr id="8" name="point-4-2">
            <a:extLst xmlns:a="http://schemas.openxmlformats.org/drawingml/2006/main">
              <a:ext uri="{FF2B5EF4-FFF2-40B4-BE49-F238E27FC236}">
                <a16:creationId xmlns:a16="http://schemas.microsoft.com/office/drawing/2014/main" id="{EB9B69DE-8850-496C-B999-D81DFC46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386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0C211A"/>
                </a:solidFill>
              </a:defRPr>
            </a:pPr>
            <a:r>
              <a:rPr sz="1350">
                <a:solidFill>
                  <a:srgbClr val="0C211A"/>
                </a:solidFill>
              </a:rPr>
              <a:t>•  تنزيل الأدلة مع حفظ سجل التدقيق.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08D3C-7B65-4F3F-8F5C-54CAE24E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3DF"/>
            </a:solidFill>
            <a:prstDash val="solid"/>
          </a:ln>
        </p:spPr>
      </p:sp>
      <p:sp>
        <p:nvSpPr>
          <p:cNvPr id="10" name="footer-4">
            <a:extLst xmlns:a="http://schemas.openxmlformats.org/drawingml/2006/main">
              <a:ext uri="{FF2B5EF4-FFF2-40B4-BE49-F238E27FC236}">
                <a16:creationId xmlns:a16="http://schemas.microsoft.com/office/drawing/2014/main" id="{91E7FC91-90AA-4A25-8CD6-B78757C8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1736D"/>
                </a:solidFill>
              </a:defRPr>
            </a:pPr>
            <a:r>
              <a:rPr sz="900">
                <a:solidFill>
                  <a:srgbClr val="61736D"/>
                </a:solidFill>
              </a:rPr>
              <a:t>WAFI OS  |  04</a:t>
            </a:r>
          </a:p>
        </p:txBody>
      </p:sp>
    </p:spTree>
    <p:extLst>
      <p:ext uri="{BB962C8B-B14F-4D97-AF65-F5344CB8AC3E}">
        <p14:creationId xmlns:p14="http://schemas.microsoft.com/office/powerpoint/2010/main" val="9257916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5">
            <a:extLst xmlns:a="http://schemas.openxmlformats.org/drawingml/2006/main">
              <a:ext uri="{FF2B5EF4-FFF2-40B4-BE49-F238E27FC236}">
                <a16:creationId xmlns:a16="http://schemas.microsoft.com/office/drawing/2014/main" id="{631A74CB-2390-4EE2-B984-03924603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D63"/>
                </a:solidFill>
              </a:defRPr>
            </a:pPr>
            <a:r>
              <a:rPr sz="975" b="1">
                <a:solidFill>
                  <a:srgbClr val="087D63"/>
                </a:solidFill>
              </a:rPr>
              <a:t>صفحة رئيسية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EC383DF2-0D7B-4DB7-9603-813213AA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85800"/>
            <a:ext cx="672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C211A"/>
                </a:solidFill>
              </a:defRPr>
            </a:pPr>
            <a:r>
              <a:rPr sz="2850" b="1">
                <a:solidFill>
                  <a:srgbClr val="0C211A"/>
                </a:solidFill>
              </a:rPr>
              <a:t>الاستثناءات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535A0256-790E-4A93-A28A-6EFE9C29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257300"/>
            <a:ext cx="672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1736D"/>
                </a:solidFill>
              </a:defRPr>
            </a:pPr>
            <a:r>
              <a:rPr sz="1350">
                <a:solidFill>
                  <a:srgbClr val="61736D"/>
                </a:solidFill>
              </a:rPr>
              <a:t>مساحة معالجة المشكلات التشغيلية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b08acdb604256"/>
          <a:stretch xmlns:a="http://schemas.openxmlformats.org/drawingml/2006/main"/>
        </p:blipFill>
        <p:spPr>
          <a:xfrm xmlns:a="http://schemas.openxmlformats.org/drawingml/2006/main">
            <a:off x="981075" y="1857375"/>
            <a:ext cx="6781800" cy="4238625"/>
          </a:xfrm>
          <a:prstGeom xmlns:a="http://schemas.openxmlformats.org/drawingml/2006/main" prst="rect">
            <a:avLst/>
          </a:prstGeom>
        </p:spPr>
      </p:pic>
      <p:sp>
        <p:nvSpPr>
          <p:cNvPr id="5" name="point-head-5">
            <a:extLst xmlns:a="http://schemas.openxmlformats.org/drawingml/2006/main">
              <a:ext uri="{FF2B5EF4-FFF2-40B4-BE49-F238E27FC236}">
                <a16:creationId xmlns:a16="http://schemas.microsoft.com/office/drawing/2014/main" id="{1B2DF592-FB1A-4911-8723-E9CAFF95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87D63"/>
                </a:solidFill>
              </a:defRPr>
            </a:pPr>
            <a:r>
              <a:rPr sz="1800" b="1">
                <a:solidFill>
                  <a:srgbClr val="087D63"/>
                </a:solidFill>
              </a:rPr>
              <a:t>ماذا تقدم الصفحة؟</a:t>
            </a:r>
          </a:p>
        </p:txBody>
      </p:sp>
      <p:sp>
        <p:nvSpPr>
          <p:cNvPr id="6" name="point-5-0">
            <a:extLst xmlns:a="http://schemas.openxmlformats.org/drawingml/2006/main">
              <a:ext uri="{FF2B5EF4-FFF2-40B4-BE49-F238E27FC236}">
                <a16:creationId xmlns:a16="http://schemas.microsoft.com/office/drawing/2014/main" id="{8F785B10-8AC6-45C9-8E55-0C30F63F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0C211A"/>
                </a:solidFill>
              </a:defRPr>
            </a:pPr>
            <a:r>
              <a:rPr sz="1350">
                <a:solidFill>
                  <a:srgbClr val="0C211A"/>
                </a:solidFill>
              </a:rPr>
              <a:t>•  استعراض الاستثناءات المفتوحة والمغلقة.</a:t>
            </a:r>
          </a:p>
        </p:txBody>
      </p:sp>
      <p:sp>
        <p:nvSpPr>
          <p:cNvPr id="7" name="point-5-1">
            <a:extLst xmlns:a="http://schemas.openxmlformats.org/drawingml/2006/main">
              <a:ext uri="{FF2B5EF4-FFF2-40B4-BE49-F238E27FC236}">
                <a16:creationId xmlns:a16="http://schemas.microsoft.com/office/drawing/2014/main" id="{4A935236-D04E-4522-81F3-14DEC1C3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0C211A"/>
                </a:solidFill>
              </a:defRPr>
            </a:pPr>
            <a:r>
              <a:rPr sz="1350">
                <a:solidFill>
                  <a:srgbClr val="0C211A"/>
                </a:solidFill>
              </a:rPr>
              <a:t>•  تحديد المالك والشدة والسبب الجذري.</a:t>
            </a:r>
          </a:p>
        </p:txBody>
      </p:sp>
      <p:sp>
        <p:nvSpPr>
          <p:cNvPr id="8" name="point-5-2">
            <a:extLst xmlns:a="http://schemas.openxmlformats.org/drawingml/2006/main">
              <a:ext uri="{FF2B5EF4-FFF2-40B4-BE49-F238E27FC236}">
                <a16:creationId xmlns:a16="http://schemas.microsoft.com/office/drawing/2014/main" id="{CE34A42D-15F7-4551-B5B0-83B7EF2F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386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0C211A"/>
                </a:solidFill>
              </a:defRPr>
            </a:pPr>
            <a:r>
              <a:rPr sz="1350">
                <a:solidFill>
                  <a:srgbClr val="0C211A"/>
                </a:solidFill>
              </a:rPr>
              <a:t>•  توثيق القرار والإجراء التصحيحي والحل.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5BA69-CEFB-4AF7-968A-85BC39F7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3DF"/>
            </a:solidFill>
            <a:prstDash val="solid"/>
          </a:ln>
        </p:spPr>
      </p:sp>
      <p:sp>
        <p:nvSpPr>
          <p:cNvPr id="10" name="footer-5">
            <a:extLst xmlns:a="http://schemas.openxmlformats.org/drawingml/2006/main">
              <a:ext uri="{FF2B5EF4-FFF2-40B4-BE49-F238E27FC236}">
                <a16:creationId xmlns:a16="http://schemas.microsoft.com/office/drawing/2014/main" id="{966BB06D-E18C-4304-A94A-80D0F427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1736D"/>
                </a:solidFill>
              </a:defRPr>
            </a:pPr>
            <a:r>
              <a:rPr sz="900">
                <a:solidFill>
                  <a:srgbClr val="61736D"/>
                </a:solidFill>
              </a:rPr>
              <a:t>WAFI OS  |  05</a:t>
            </a:r>
          </a:p>
        </p:txBody>
      </p:sp>
    </p:spTree>
    <p:extLst>
      <p:ext uri="{BB962C8B-B14F-4D97-AF65-F5344CB8AC3E}">
        <p14:creationId xmlns:p14="http://schemas.microsoft.com/office/powerpoint/2010/main" val="11235758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6">
            <a:extLst xmlns:a="http://schemas.openxmlformats.org/drawingml/2006/main">
              <a:ext uri="{FF2B5EF4-FFF2-40B4-BE49-F238E27FC236}">
                <a16:creationId xmlns:a16="http://schemas.microsoft.com/office/drawing/2014/main" id="{878E8CBB-C362-4E8E-B479-22795D59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D63"/>
                </a:solidFill>
              </a:defRPr>
            </a:pPr>
            <a:r>
              <a:rPr sz="975" b="1">
                <a:solidFill>
                  <a:srgbClr val="087D63"/>
                </a:solidFill>
              </a:rPr>
              <a:t>صفحة رئيسية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71BF5F2-F73D-4ED7-9396-7C5F6E72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85800"/>
            <a:ext cx="672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C211A"/>
                </a:solidFill>
              </a:defRPr>
            </a:pPr>
            <a:r>
              <a:rPr sz="2850" b="1">
                <a:solidFill>
                  <a:srgbClr val="0C211A"/>
                </a:solidFill>
              </a:rPr>
              <a:t>التقارير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2A56D153-8F4F-4F66-95DB-BF6473ED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257300"/>
            <a:ext cx="672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1736D"/>
                </a:solidFill>
              </a:defRPr>
            </a:pPr>
            <a:r>
              <a:rPr sz="1350">
                <a:solidFill>
                  <a:srgbClr val="61736D"/>
                </a:solidFill>
              </a:rPr>
              <a:t>قراءة يومية مباشرة لحركة التحميل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9f5d336d149ec"/>
          <a:stretch xmlns:a="http://schemas.openxmlformats.org/drawingml/2006/main"/>
        </p:blipFill>
        <p:spPr>
          <a:xfrm xmlns:a="http://schemas.openxmlformats.org/drawingml/2006/main">
            <a:off x="981075" y="1857375"/>
            <a:ext cx="6781800" cy="4238625"/>
          </a:xfrm>
          <a:prstGeom xmlns:a="http://schemas.openxmlformats.org/drawingml/2006/main" prst="rect">
            <a:avLst/>
          </a:prstGeom>
        </p:spPr>
      </p:pic>
      <p:sp>
        <p:nvSpPr>
          <p:cNvPr id="5" name="point-head-6">
            <a:extLst xmlns:a="http://schemas.openxmlformats.org/drawingml/2006/main">
              <a:ext uri="{FF2B5EF4-FFF2-40B4-BE49-F238E27FC236}">
                <a16:creationId xmlns:a16="http://schemas.microsoft.com/office/drawing/2014/main" id="{F06E2BE5-D963-420D-9A22-84F96A11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87D63"/>
                </a:solidFill>
              </a:defRPr>
            </a:pPr>
            <a:r>
              <a:rPr sz="1800" b="1">
                <a:solidFill>
                  <a:srgbClr val="087D63"/>
                </a:solidFill>
              </a:rPr>
              <a:t>ماذا تقدم الصفحة؟</a:t>
            </a:r>
          </a:p>
        </p:txBody>
      </p:sp>
      <p:sp>
        <p:nvSpPr>
          <p:cNvPr id="6" name="point-6-0">
            <a:extLst xmlns:a="http://schemas.openxmlformats.org/drawingml/2006/main">
              <a:ext uri="{FF2B5EF4-FFF2-40B4-BE49-F238E27FC236}">
                <a16:creationId xmlns:a16="http://schemas.microsoft.com/office/drawing/2014/main" id="{D4E9E75D-645B-4986-862F-4583B935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0C211A"/>
                </a:solidFill>
              </a:defRPr>
            </a:pPr>
            <a:r>
              <a:rPr sz="1350">
                <a:solidFill>
                  <a:srgbClr val="0C211A"/>
                </a:solidFill>
              </a:rPr>
              <a:t>•  اختيار الفترة الزمنية المطلوبة.</a:t>
            </a:r>
          </a:p>
        </p:txBody>
      </p:sp>
      <p:sp>
        <p:nvSpPr>
          <p:cNvPr id="7" name="point-6-1">
            <a:extLst xmlns:a="http://schemas.openxmlformats.org/drawingml/2006/main">
              <a:ext uri="{FF2B5EF4-FFF2-40B4-BE49-F238E27FC236}">
                <a16:creationId xmlns:a16="http://schemas.microsoft.com/office/drawing/2014/main" id="{70AB3EB4-39EF-4045-810A-791B76A3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0C211A"/>
                </a:solidFill>
              </a:defRPr>
            </a:pPr>
            <a:r>
              <a:rPr sz="1350">
                <a:solidFill>
                  <a:srgbClr val="0C211A"/>
                </a:solidFill>
              </a:rPr>
              <a:t>•  ملخص المهام والتأخير والاستثناءات.</a:t>
            </a:r>
          </a:p>
        </p:txBody>
      </p:sp>
      <p:sp>
        <p:nvSpPr>
          <p:cNvPr id="8" name="point-6-2">
            <a:extLst xmlns:a="http://schemas.openxmlformats.org/drawingml/2006/main">
              <a:ext uri="{FF2B5EF4-FFF2-40B4-BE49-F238E27FC236}">
                <a16:creationId xmlns:a16="http://schemas.microsoft.com/office/drawing/2014/main" id="{8F5C26A5-16BD-49E4-8B9B-534C04D1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386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0C211A"/>
                </a:solidFill>
              </a:defRPr>
            </a:pPr>
            <a:r>
              <a:rPr sz="1350">
                <a:solidFill>
                  <a:srgbClr val="0C211A"/>
                </a:solidFill>
              </a:rPr>
              <a:t>•  عرض النتائج من بيانات API الفعلية.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1AFEC-5A53-428B-90E9-064F27BC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3DF"/>
            </a:solidFill>
            <a:prstDash val="solid"/>
          </a:ln>
        </p:spPr>
      </p:sp>
      <p:sp>
        <p:nvSpPr>
          <p:cNvPr id="10" name="footer-6">
            <a:extLst xmlns:a="http://schemas.openxmlformats.org/drawingml/2006/main">
              <a:ext uri="{FF2B5EF4-FFF2-40B4-BE49-F238E27FC236}">
                <a16:creationId xmlns:a16="http://schemas.microsoft.com/office/drawing/2014/main" id="{FE96611C-4B0E-4452-B18E-8CA1E434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61736D"/>
                </a:solidFill>
              </a:defRPr>
            </a:pPr>
            <a:r>
              <a:rPr sz="900">
                <a:solidFill>
                  <a:srgbClr val="61736D"/>
                </a:solidFill>
              </a:rPr>
              <a:t>WAFI OS  |  06</a:t>
            </a:r>
          </a:p>
        </p:txBody>
      </p:sp>
    </p:spTree>
    <p:extLst>
      <p:ext uri="{BB962C8B-B14F-4D97-AF65-F5344CB8AC3E}">
        <p14:creationId xmlns:p14="http://schemas.microsoft.com/office/powerpoint/2010/main" val="20241531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21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B06DA26C-44E1-416E-A15C-F29A7DFC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00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FE0BE"/>
                </a:solidFill>
              </a:defRPr>
            </a:pPr>
            <a:r>
              <a:rPr sz="1350" b="1">
                <a:solidFill>
                  <a:srgbClr val="6FE0BE"/>
                </a:solidFill>
              </a:rPr>
              <a:t>WAFI OS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62E36F13-2A01-41A4-9156-1C96FC01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66875"/>
            <a:ext cx="838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واجهة واحدة لإدارة دورة التشغيل</a:t>
            </a:r>
          </a:p>
        </p:txBody>
      </p:sp>
      <p:sp>
        <p:nvSpPr>
          <p:cNvPr id="3" name="close-copy">
            <a:extLst xmlns:a="http://schemas.openxmlformats.org/drawingml/2006/main">
              <a:ext uri="{FF2B5EF4-FFF2-40B4-BE49-F238E27FC236}">
                <a16:creationId xmlns:a16="http://schemas.microsoft.com/office/drawing/2014/main" id="{438A50CA-BEAC-42B8-A557-8A2C2968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05125"/>
            <a:ext cx="666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>
                <a:solidFill>
                  <a:srgbClr val="D9E8E3"/>
                </a:solidFill>
              </a:defRPr>
            </a:pPr>
            <a:r>
              <a:rPr sz="1875">
                <a:solidFill>
                  <a:srgbClr val="D9E8E3"/>
                </a:solidFill>
              </a:rPr>
              <a:t>تبدأ المتابعة من برج المراقبة، ثم تنتقل إلى تنفيذ المهام، توثيق الأدلة، معالجة الاستثناءات، وقراءة التقارير.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1AC86-952F-40C6-88CF-E29FE94F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FE0BE"/>
            </a:solidFill>
            <a:prstDash val="solid"/>
          </a:ln>
        </p:spPr>
      </p:sp>
      <p:sp>
        <p:nvSpPr>
          <p:cNvPr id="5" name="close-note">
            <a:extLst xmlns:a="http://schemas.openxmlformats.org/drawingml/2006/main">
              <a:ext uri="{FF2B5EF4-FFF2-40B4-BE49-F238E27FC236}">
                <a16:creationId xmlns:a16="http://schemas.microsoft.com/office/drawing/2014/main" id="{80FA886E-E669-418F-AFE7-778FC856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006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FE0BE"/>
                </a:solidFill>
              </a:defRPr>
            </a:pPr>
            <a:r>
              <a:rPr sz="1350">
                <a:solidFill>
                  <a:srgbClr val="6FE0BE"/>
                </a:solidFill>
              </a:rPr>
              <a:t>الصفحات الرئيسية فقط</a:t>
            </a:r>
          </a:p>
        </p:txBody>
      </p:sp>
    </p:spTree>
    <p:extLst>
      <p:ext uri="{BB962C8B-B14F-4D97-AF65-F5344CB8AC3E}">
        <p14:creationId xmlns:p14="http://schemas.microsoft.com/office/powerpoint/2010/main" val="20143509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2026-08-13T07:42:42.7540000Z</dcterms:created>
  <dcterms:modified xsi:type="dcterms:W3CDTF">2026-08-13T07:42:42.7540000Z</dcterms:modified>
</coreProperties>
</file>